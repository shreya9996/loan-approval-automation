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9AA0A6"/>
          </p15:clr>
        </p15:guide>
        <p15:guide id="2" orient="horz" pos="216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" roundtripDataSignature="AMtx7mhVh+Fg4ocRMZsd4OGRR0WQ0wdKY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-8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customschemas.google.com/relationships/presentationmetadata" Target="meta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tableStyles" Target="tableStyles.xml"/><Relationship Id="rId10" Type="http://schemas.openxmlformats.org/officeDocument/2006/relationships/theme" Target="theme/theme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 txBox="1"/>
          <p:nvPr/>
        </p:nvSpPr>
        <p:spPr>
          <a:xfrm>
            <a:off x="3074503" y="829023"/>
            <a:ext cx="9030900" cy="1200288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spcFirstLastPara="1" wrap="square" lIns="91425" tIns="45700" rIns="0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entury"/>
                <a:ea typeface="Century"/>
                <a:cs typeface="Century"/>
                <a:sym typeface="Century"/>
              </a:rPr>
              <a:t>DEPARTMENT OF COMPUTER SCIENCE &amp; ENGINEERING</a:t>
            </a:r>
          </a:p>
          <a:p>
            <a:pPr lvl="0" algn="ctr">
              <a:buSzPts val="1800"/>
            </a:pPr>
            <a:r>
              <a:rPr lang="en-IN" sz="1800" b="1" dirty="0">
                <a:solidFill>
                  <a:schemeClr val="bg1"/>
                </a:solidFill>
              </a:rPr>
              <a:t>Credence — AI Loan Approval System</a:t>
            </a:r>
          </a:p>
          <a:p>
            <a:pPr lvl="0" algn="ctr">
              <a:buSzPts val="1800"/>
            </a:pPr>
            <a:r>
              <a:rPr lang="en-IN" sz="1800" dirty="0">
                <a:solidFill>
                  <a:schemeClr val="bg1"/>
                </a:solidFill>
              </a:rPr>
              <a:t>Explainable KNN Model with Voice Assistant &amp; Fairness Dashboard </a:t>
            </a:r>
          </a:p>
          <a:p>
            <a:pPr lvl="0" algn="ctr">
              <a:buSzPts val="1800"/>
            </a:pPr>
            <a:r>
              <a:rPr lang="en-IN" sz="1800" dirty="0">
                <a:solidFill>
                  <a:schemeClr val="bg1"/>
                </a:solidFill>
              </a:rPr>
              <a:t>Names : Shivani Suryawanshi , Sejal </a:t>
            </a:r>
            <a:r>
              <a:rPr lang="en-IN" sz="1800" dirty="0" err="1">
                <a:solidFill>
                  <a:schemeClr val="bg1"/>
                </a:solidFill>
              </a:rPr>
              <a:t>Kaldate</a:t>
            </a:r>
            <a:r>
              <a:rPr lang="en-IN" sz="1800" dirty="0">
                <a:solidFill>
                  <a:schemeClr val="bg1"/>
                </a:solidFill>
              </a:rPr>
              <a:t> , Shreya Patil</a:t>
            </a:r>
            <a:endParaRPr sz="1800" b="0" i="0" u="none" strike="noStrike" cap="none" dirty="0">
              <a:solidFill>
                <a:schemeClr val="bg1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153573" y="1435502"/>
            <a:ext cx="2869500" cy="661679"/>
          </a:xfrm>
          <a:prstGeom prst="rect">
            <a:avLst/>
          </a:prstGeom>
          <a:solidFill>
            <a:srgbClr val="FEE599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Faculty Guide: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Dr. </a:t>
            </a:r>
            <a:r>
              <a:rPr lang="en-US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Seema.V</a:t>
            </a:r>
            <a:r>
              <a:rPr lang="en-US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Kedar</a:t>
            </a:r>
            <a:endParaRPr sz="17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13013334" y="-393524"/>
            <a:ext cx="4927697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Proposed Architecture/ Diagram: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3074504" y="170085"/>
            <a:ext cx="7420624" cy="584775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 dirty="0">
                <a:solidFill>
                  <a:srgbClr val="323F4F"/>
                </a:solidFill>
                <a:latin typeface="Century"/>
                <a:ea typeface="Century"/>
                <a:cs typeface="Century"/>
                <a:sym typeface="Century"/>
              </a:rPr>
              <a:t>IEEE Summer Research Internship </a:t>
            </a:r>
            <a:endParaRPr sz="3200" b="0" i="0" u="none" strike="noStrike" cap="none" dirty="0">
              <a:solidFill>
                <a:srgbClr val="323F4F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-3345986" y="2629235"/>
            <a:ext cx="28695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53106" y="5273398"/>
            <a:ext cx="4412512" cy="1292621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3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lang="en-US" sz="13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SzPts val="1500"/>
            </a:pPr>
            <a:r>
              <a:rPr lang="en-US" sz="1300" dirty="0">
                <a:solidFill>
                  <a:schemeClr val="dk1"/>
                </a:solidFill>
              </a:rPr>
              <a:t>Loan approval in India is manual, opaque, and biased.</a:t>
            </a:r>
          </a:p>
          <a:p>
            <a:pPr lvl="0">
              <a:buSzPts val="1500"/>
            </a:pPr>
            <a:r>
              <a:rPr lang="en-US" sz="1300" dirty="0">
                <a:solidFill>
                  <a:schemeClr val="dk1"/>
                </a:solidFill>
              </a:rPr>
              <a:t>Applicants get no explanation for rejection and no</a:t>
            </a:r>
          </a:p>
          <a:p>
            <a:pPr lvl="0">
              <a:buSzPts val="1500"/>
            </a:pPr>
            <a:r>
              <a:rPr lang="en-US" sz="1300" dirty="0">
                <a:solidFill>
                  <a:schemeClr val="dk1"/>
                </a:solidFill>
              </a:rPr>
              <a:t>guidance to improve. Existing ML models are black boxes</a:t>
            </a:r>
          </a:p>
          <a:p>
            <a:pPr lvl="0">
              <a:buSzPts val="1500"/>
            </a:pPr>
            <a:r>
              <a:rPr lang="en-US" sz="1300" dirty="0">
                <a:solidFill>
                  <a:schemeClr val="dk1"/>
                </a:solidFill>
              </a:rPr>
              <a:t>— accurate but not transparent, fair, or accessible.</a:t>
            </a:r>
            <a:endParaRPr lang="en-US" sz="130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4577855" y="4714324"/>
            <a:ext cx="4006100" cy="2054368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Proposed Solution</a:t>
            </a:r>
            <a:endParaRPr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spcBef>
                <a:spcPts val="800"/>
              </a:spcBef>
              <a:buSzPts val="1100"/>
            </a:pPr>
            <a:r>
              <a:rPr lang="en-IN" sz="1050" dirty="0">
                <a:solidFill>
                  <a:schemeClr val="dk1"/>
                </a:solidFill>
              </a:rPr>
              <a:t>Credence: KNN model trained on 45,000 records, 5 features.</a:t>
            </a:r>
          </a:p>
          <a:p>
            <a:pPr marL="171450" lvl="0" indent="-171450">
              <a:spcBef>
                <a:spcPts val="800"/>
              </a:spcBef>
              <a:buSzPts val="1100"/>
              <a:buFontTx/>
              <a:buChar char="-"/>
            </a:pPr>
            <a:r>
              <a:rPr lang="en-IN" sz="1050" b="1" dirty="0">
                <a:solidFill>
                  <a:schemeClr val="dk1"/>
                </a:solidFill>
              </a:rPr>
              <a:t>SHAP</a:t>
            </a:r>
            <a:r>
              <a:rPr lang="en-IN" sz="1050" dirty="0">
                <a:solidFill>
                  <a:schemeClr val="dk1"/>
                </a:solidFill>
              </a:rPr>
              <a:t> — explains why each decision was made</a:t>
            </a:r>
          </a:p>
          <a:p>
            <a:pPr marL="171450" lvl="0" indent="-171450">
              <a:spcBef>
                <a:spcPts val="800"/>
              </a:spcBef>
              <a:buSzPts val="1100"/>
              <a:buFontTx/>
              <a:buChar char="-"/>
            </a:pPr>
            <a:r>
              <a:rPr lang="en-IN" sz="1050" dirty="0">
                <a:solidFill>
                  <a:schemeClr val="dk1"/>
                </a:solidFill>
              </a:rPr>
              <a:t> </a:t>
            </a:r>
            <a:r>
              <a:rPr lang="en-IN" sz="1050" b="1" dirty="0" err="1">
                <a:solidFill>
                  <a:schemeClr val="dk1"/>
                </a:solidFill>
              </a:rPr>
              <a:t>DiCE</a:t>
            </a:r>
            <a:r>
              <a:rPr lang="en-IN" sz="1050" dirty="0">
                <a:solidFill>
                  <a:schemeClr val="dk1"/>
                </a:solidFill>
              </a:rPr>
              <a:t> — 3 "what to change" scenarios for rejected applicants</a:t>
            </a:r>
          </a:p>
          <a:p>
            <a:pPr lvl="0">
              <a:spcBef>
                <a:spcPts val="800"/>
              </a:spcBef>
              <a:buSzPts val="1100"/>
            </a:pPr>
            <a:r>
              <a:rPr lang="en-IN" sz="1050" dirty="0">
                <a:solidFill>
                  <a:schemeClr val="dk1"/>
                </a:solidFill>
              </a:rPr>
              <a:t>- </a:t>
            </a:r>
            <a:r>
              <a:rPr lang="en-IN" sz="1050" b="1" dirty="0">
                <a:solidFill>
                  <a:schemeClr val="dk1"/>
                </a:solidFill>
              </a:rPr>
              <a:t>EMI &amp; DTI </a:t>
            </a:r>
            <a:r>
              <a:rPr lang="en-IN" sz="1050" dirty="0">
                <a:solidFill>
                  <a:schemeClr val="dk1"/>
                </a:solidFill>
              </a:rPr>
              <a:t>— live financial calculator in the form</a:t>
            </a:r>
          </a:p>
          <a:p>
            <a:pPr lvl="0">
              <a:spcBef>
                <a:spcPts val="800"/>
              </a:spcBef>
              <a:buSzPts val="1100"/>
            </a:pPr>
            <a:r>
              <a:rPr lang="en-IN" sz="1050" dirty="0">
                <a:solidFill>
                  <a:schemeClr val="dk1"/>
                </a:solidFill>
              </a:rPr>
              <a:t>- </a:t>
            </a:r>
            <a:r>
              <a:rPr lang="en-IN" sz="1050" b="1" dirty="0">
                <a:solidFill>
                  <a:schemeClr val="dk1"/>
                </a:solidFill>
              </a:rPr>
              <a:t>Voice Assistant </a:t>
            </a:r>
            <a:r>
              <a:rPr lang="en-IN" sz="1050" dirty="0">
                <a:solidFill>
                  <a:schemeClr val="dk1"/>
                </a:solidFill>
              </a:rPr>
              <a:t>— 12-step wizard, speech input &amp; output</a:t>
            </a:r>
          </a:p>
          <a:p>
            <a:pPr lvl="0">
              <a:spcBef>
                <a:spcPts val="800"/>
              </a:spcBef>
              <a:buSzPts val="1100"/>
            </a:pPr>
            <a:r>
              <a:rPr lang="en-IN" sz="1050" dirty="0">
                <a:solidFill>
                  <a:schemeClr val="dk1"/>
                </a:solidFill>
              </a:rPr>
              <a:t>- </a:t>
            </a:r>
            <a:r>
              <a:rPr lang="en-IN" sz="1050" b="1" dirty="0">
                <a:solidFill>
                  <a:schemeClr val="dk1"/>
                </a:solidFill>
              </a:rPr>
              <a:t>Fairness Dashboard — EEOC 80% rule, IEEE 7010 compliant</a:t>
            </a:r>
            <a:endParaRPr sz="1050" b="1" dirty="0">
              <a:solidFill>
                <a:schemeClr val="dk1"/>
              </a:solidFill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8696192" y="5006712"/>
            <a:ext cx="3329231" cy="176198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Scope and Feasibility</a:t>
            </a:r>
            <a:endParaRPr lang="en-US" b="1" dirty="0">
              <a:solidFill>
                <a:schemeClr val="dk1"/>
              </a:solidFill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050" dirty="0"/>
              <a:t>4 Modules:</a:t>
            </a:r>
            <a:endParaRPr lang="en-US" sz="1050" b="1" dirty="0"/>
          </a:p>
          <a:p>
            <a:pPr lvl="0">
              <a:buSzPts val="1600"/>
            </a:pPr>
            <a:r>
              <a:rPr lang="en-US" sz="1050" dirty="0"/>
              <a:t>1. Prediction — AI model decides loan approval instantly</a:t>
            </a:r>
          </a:p>
          <a:p>
            <a:pPr lvl="0">
              <a:buSzPts val="1600"/>
            </a:pPr>
            <a:r>
              <a:rPr lang="en-US" sz="1050" dirty="0"/>
              <a:t>2. Explainability — tells you why it was approved or rejected</a:t>
            </a:r>
          </a:p>
          <a:p>
            <a:pPr lvl="0">
              <a:buSzPts val="1600"/>
            </a:pPr>
            <a:r>
              <a:rPr lang="en-US" sz="1050" dirty="0"/>
              <a:t>3. Voice Assistant — talk to the system in your language</a:t>
            </a:r>
          </a:p>
          <a:p>
            <a:pPr lvl="0">
              <a:buSzPts val="1600"/>
            </a:pPr>
            <a:r>
              <a:rPr lang="en-US" sz="1050" dirty="0"/>
              <a:t>4. Fairness Check — ensures no bias based on gender or age</a:t>
            </a:r>
            <a:endParaRPr sz="105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10565338" y="180102"/>
            <a:ext cx="1556400" cy="585000"/>
          </a:xfrm>
          <a:prstGeom prst="rect">
            <a:avLst/>
          </a:prstGeom>
          <a:solidFill>
            <a:srgbClr val="FEE599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 :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Group Id: 01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8860807" y="1927097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</a:rPr>
              <a:t>Block Diagram</a:t>
            </a:r>
            <a:endParaRPr dirty="0"/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17467145-A885-F75A-5EF3-44F897650E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442" y="132520"/>
            <a:ext cx="2674882" cy="1281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5B937E0-C6DE-1477-D118-1EE736BC7E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3955" y="2174192"/>
            <a:ext cx="4006099" cy="28558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00F5515-CFA1-2627-38AD-DA42DD6136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3240" y="2060856"/>
            <a:ext cx="4292952" cy="262192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1997EB6-C3DE-E3AB-8D1F-E647252024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42" y="2217146"/>
            <a:ext cx="4322398" cy="293628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223</Words>
  <Application>Microsoft Office PowerPoint</Application>
  <PresentationFormat>Widescreen</PresentationFormat>
  <Paragraphs>30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Century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Shivani Suryawanshi</cp:lastModifiedBy>
  <cp:revision>4</cp:revision>
  <dcterms:modified xsi:type="dcterms:W3CDTF">2026-06-24T07:05:04Z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65487c9-99ed-4cbc-93a8-0e9b1796bde5_Enabled">
    <vt:lpwstr>true</vt:lpwstr>
  </property>
  <property fmtid="{D5CDD505-2E9C-101B-9397-08002B2CF9AE}" pid="3" name="MSIP_Label_e65487c9-99ed-4cbc-93a8-0e9b1796bde5_SetDate">
    <vt:lpwstr>2023-08-22T15:55:58Z</vt:lpwstr>
  </property>
  <property fmtid="{D5CDD505-2E9C-101B-9397-08002B2CF9AE}" pid="4" name="MSIP_Label_e65487c9-99ed-4cbc-93a8-0e9b1796bde5_Method">
    <vt:lpwstr>Standard</vt:lpwstr>
  </property>
  <property fmtid="{D5CDD505-2E9C-101B-9397-08002B2CF9AE}" pid="5" name="MSIP_Label_e65487c9-99ed-4cbc-93a8-0e9b1796bde5_Name">
    <vt:lpwstr>defa4170-0d19-0005-0004-bc88714345d2</vt:lpwstr>
  </property>
  <property fmtid="{D5CDD505-2E9C-101B-9397-08002B2CF9AE}" pid="6" name="MSIP_Label_e65487c9-99ed-4cbc-93a8-0e9b1796bde5_SiteId">
    <vt:lpwstr>03cb5f0c-1f82-4993-9621-36330f6309ec</vt:lpwstr>
  </property>
  <property fmtid="{D5CDD505-2E9C-101B-9397-08002B2CF9AE}" pid="7" name="MSIP_Label_e65487c9-99ed-4cbc-93a8-0e9b1796bde5_ActionId">
    <vt:lpwstr>a9f9e4d2-07a5-4c01-b96a-2377cca3dabb</vt:lpwstr>
  </property>
  <property fmtid="{D5CDD505-2E9C-101B-9397-08002B2CF9AE}" pid="8" name="MSIP_Label_e65487c9-99ed-4cbc-93a8-0e9b1796bde5_ContentBits">
    <vt:lpwstr>0</vt:lpwstr>
  </property>
</Properties>
</file>